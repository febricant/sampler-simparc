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stock models tell you what a city's homes will demand before you</a:t>
            </a:r>
          </a:p>
          <a:p>
            <a:r>
              <a:t>build the grid to serve them. Hydro-Quebec has one, called SimParc. Alberta</a:t>
            </a:r>
          </a:p>
          <a:p>
            <a:r>
              <a:t>doesn't. This is what it took to move that model across the country - using only</a:t>
            </a:r>
          </a:p>
          <a:p>
            <a:r>
              <a:t>open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stock model answers three questions utilities actually pay for: what's the</a:t>
            </a:r>
          </a:p>
          <a:p>
            <a:r>
              <a:t>baseline, how fast is it growing, and when does it peak. This is one Montreal</a:t>
            </a:r>
          </a:p>
          <a:p>
            <a:r>
              <a:t>apartment across a year - note the shape, not the city. Winter peak is roughly</a:t>
            </a:r>
          </a:p>
          <a:p>
            <a:r>
              <a:t>double summer. Multiply that by a million homes and it's a capacity planning</a:t>
            </a:r>
          </a:p>
          <a:p>
            <a:r>
              <a:t>problem. SimParc does exactly that multiplication for Quebec.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Here's why you can't just point SimParc at Calgary. Quebec heats with electric</a:t>
            </a:r>
          </a:p>
          <a:p>
            <a:r>
              <a:t>baseboards - cheap hydro made that the default. Alberta is ninety-nine and a half</a:t>
            </a:r>
          </a:p>
          <a:p>
            <a:r>
              <a:t>percent natural gas. Every probability in the model is conditioned on the Quebec</a:t>
            </a:r>
          </a:p>
          <a:p>
            <a:r>
              <a:t>answer. The code ports in an afternoon. The statistics don't port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layers. A Bayesian network draws forty dwelling and occupant variables -</a:t>
            </a:r>
          </a:p>
          <a:p>
            <a:r>
              <a:t>type, vintage, fuel. ResStock-style tables add fifty-two technical attributes on</a:t>
            </a:r>
          </a:p>
          <a:p>
            <a:r>
              <a:t>top. A deterministic mapper turns all of it into HPXML arguments the simulator</a:t>
            </a:r>
          </a:p>
          <a:p>
            <a:r>
              <a:t>runs. Those layers meet in a ninety-seven column schema, and every one of those</a:t>
            </a:r>
          </a:p>
          <a:p>
            <a:r>
              <a:t>columns was trained on a Quebec survey. That schema is the thing we have to</a:t>
            </a:r>
          </a:p>
          <a:p>
            <a:r>
              <a:t>re-derive.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Quebec has a designed energy survey. Alberta has EnerGuide - a hundred ninety</a:t>
            </a:r>
          </a:p>
          <a:p>
            <a:r>
              <a:t>thousand audited homes, but nobody sampled them. People opt in by applying for a</a:t>
            </a:r>
          </a:p>
          <a:p>
            <a:r>
              <a:t>retrofit grant or labelling a new build. Look at the gap. Eighty-four percent of</a:t>
            </a:r>
          </a:p>
          <a:p>
            <a:r>
              <a:t>the sample is single-detached; the real city is fifty-five. Apartments are</a:t>
            </a:r>
          </a:p>
          <a:p>
            <a:r>
              <a:t>twenty-seven percent of Calgary and essentially zero in the data. Averaging this</a:t>
            </a:r>
          </a:p>
          <a:p>
            <a:r>
              <a:t>describes grant applicants.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 we don't average it. Every home is sorted into a census cell - type, vintage,</a:t>
            </a:r>
          </a:p>
          <a:p>
            <a:r>
              <a:t>tenure - and iterative proportional fitting solves for weights that force the</a:t>
            </a:r>
          </a:p>
          <a:p>
            <a:r>
              <a:t>weighted mix onto the census margins. Blue is the raw sample, green is the census,</a:t>
            </a:r>
          </a:p>
          <a:p>
            <a:r>
              <a:t>and the orange bar is the reweighted sample landing on target. The cost is honest:</a:t>
            </a:r>
          </a:p>
          <a:p>
            <a:r>
              <a:t>thirty-four thousand homes behave statistically like about a hundred sixty.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hundred forty-six kilowatt-hours per square metre per year. The interval is</a:t>
            </a:r>
          </a:p>
          <a:p>
            <a:r>
              <a:t>a post-stratified bootstrap - five thousand resamples, priced at that reduced</a:t>
            </a:r>
          </a:p>
          <a:p>
            <a:r>
              <a:t>effective sample size, not the raw thirty-four thousand. So the error bar is real:</a:t>
            </a:r>
          </a:p>
          <a:p>
            <a:r>
              <a:t>one thirty-eight to one fifty-six. That's a defensible city baseline, with the</a:t>
            </a:r>
          </a:p>
          <a:p>
            <a:r>
              <a:t>uncertainty stated rather than hidden.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cuts. By age: post-2020 homes come in at eighty-one, the oldest stock at two</a:t>
            </a:r>
          </a:p>
          <a:p>
            <a:r>
              <a:t>twenty-eight - nearly three times the intensity. That's forty years of building</a:t>
            </a:r>
          </a:p>
          <a:p>
            <a:r>
              <a:t>code, visible in the data, and it's our physical sanity check. By geography: the</a:t>
            </a:r>
          </a:p>
          <a:p>
            <a:r>
              <a:t>inner-city ring is oldest and most intense, the new suburbs lightest. Pale FSAs</a:t>
            </a:r>
          </a:p>
          <a:p>
            <a:r>
              <a:t>are thin samples - compare neighbourhoods, don't quote a single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things next: source Albertan datasets at this resolution or better,</a:t>
            </a:r>
          </a:p>
          <a:p>
            <a:r>
              <a:t>rewrite the mapper's hardcoded Quebec parameters, and retrain the Bayesian network</a:t>
            </a:r>
          </a:p>
          <a:p>
            <a:r>
              <a:t>on Calgary. Two honest limits - apartments and the oldest vintages stay thin, so</a:t>
            </a:r>
          </a:p>
          <a:p>
            <a:r>
              <a:t>their intervals are wide; and this is audit-modelled intensity, not a weather</a:t>
            </a:r>
          </a:p>
          <a:p>
            <a:r>
              <a:t>simulation. It's decision-grade for comparing neighbourhoods and vintages. Not a</a:t>
            </a:r>
          </a:p>
          <a:p>
            <a:r>
              <a:t>per-building predictor.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9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468880"/>
            <a:ext cx="128016" cy="18288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37744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5200" b="1">
                <a:solidFill>
                  <a:srgbClr val="FFFFFF"/>
                </a:solidFill>
                <a:latin typeface="Calibri"/>
              </a:rPr>
              <a:t>SIMPARC FOR ALBERTA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7008" y="37033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9FB8BC"/>
                </a:solidFill>
                <a:latin typeface="Calibri"/>
              </a:rPr>
              <a:t>Porting a Quebec housing-stock energy model to Calgary on open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7008" y="63550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FB8BC"/>
                </a:solidFill>
                <a:latin typeface="Calibri"/>
              </a:rPr>
              <a:t>NRCan EnerGuide  ·  Census 2021  ·  seeded &amp; scripted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Rounded Rectangle 10"/>
          <p:cNvSpPr/>
          <p:nvPr/>
        </p:nvSpPr>
        <p:spPr>
          <a:xfrm>
            <a:off x="5486400" y="1554480"/>
            <a:ext cx="6254496" cy="3840480"/>
          </a:xfrm>
          <a:prstGeom prst="roundRect">
            <a:avLst>
              <a:gd name="adj" fmla="val 3000"/>
            </a:avLst>
          </a:prstGeom>
          <a:solidFill>
            <a:srgbClr val="EBE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9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11064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WHY STOCK MODELS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14400"/>
            <a:ext cx="1005840" cy="45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FB8BC"/>
                </a:solidFill>
                <a:latin typeface="Calibri"/>
              </a:rPr>
              <a:t>NRCan EnerGuide  ·  Census 2021  ·  seeded &amp; scripted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FB8BC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4206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</a:pPr>
            <a:r>
              <a:rPr sz="2100" b="1">
                <a:solidFill>
                  <a:srgbClr val="C8102E"/>
                </a:solidFill>
                <a:latin typeface="Calibri"/>
              </a:rPr>
              <a:t>— </a:t>
            </a:r>
            <a:r>
              <a:rPr sz="2100">
                <a:solidFill>
                  <a:srgbClr val="FFFFFF"/>
                </a:solidFill>
                <a:latin typeface="Calibri"/>
              </a:rPr>
              <a:t>What's the baseline demand?</a:t>
            </a:r>
          </a:p>
          <a:p>
            <a:pPr>
              <a:spcAft>
                <a:spcPts val="2200"/>
              </a:spcAft>
            </a:pPr>
            <a:r>
              <a:rPr sz="2100" b="1">
                <a:solidFill>
                  <a:srgbClr val="C8102E"/>
                </a:solidFill>
                <a:latin typeface="Calibri"/>
              </a:rPr>
              <a:t>— </a:t>
            </a:r>
            <a:r>
              <a:rPr sz="2100">
                <a:solidFill>
                  <a:srgbClr val="FFFFFF"/>
                </a:solidFill>
                <a:latin typeface="Calibri"/>
              </a:rPr>
              <a:t>How fast is it growing?</a:t>
            </a:r>
          </a:p>
          <a:p>
            <a:pPr>
              <a:spcAft>
                <a:spcPts val="2200"/>
              </a:spcAft>
            </a:pPr>
            <a:r>
              <a:rPr sz="2100" b="1">
                <a:solidFill>
                  <a:srgbClr val="C8102E"/>
                </a:solidFill>
                <a:latin typeface="Calibri"/>
              </a:rPr>
              <a:t>— </a:t>
            </a:r>
            <a:r>
              <a:rPr sz="2100">
                <a:solidFill>
                  <a:srgbClr val="FFFFFF"/>
                </a:solidFill>
                <a:latin typeface="Calibri"/>
              </a:rPr>
              <a:t>When does it peak?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4114800"/>
            <a:ext cx="4206240" cy="71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≈ 2×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826000"/>
            <a:ext cx="4206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9FB8BC"/>
                </a:solidFill>
                <a:latin typeface="Calibri"/>
              </a:rPr>
              <a:t>winter peak vs summer, one dwelling</a:t>
            </a:r>
          </a:p>
        </p:txBody>
      </p:sp>
      <p:pic>
        <p:nvPicPr>
          <p:cNvPr id="10" name="Picture 9" descr="00_montreal_pea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6128" y="1664208"/>
            <a:ext cx="6035040" cy="362102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Rounded Rectangle 10"/>
          <p:cNvSpPr/>
          <p:nvPr/>
        </p:nvSpPr>
        <p:spPr>
          <a:xfrm>
            <a:off x="5760720" y="1920240"/>
            <a:ext cx="6071616" cy="3323048"/>
          </a:xfrm>
          <a:prstGeom prst="roundRect">
            <a:avLst>
              <a:gd name="adj" fmla="val 3000"/>
            </a:avLst>
          </a:prstGeom>
          <a:solidFill>
            <a:srgbClr val="EBE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9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11064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14400"/>
            <a:ext cx="1005840" cy="45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FB8BC"/>
                </a:solidFill>
                <a:latin typeface="Calibri"/>
              </a:rPr>
              <a:t>NRCan EnerGuide  ·  Census 2021  ·  seeded &amp; scripted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FB8BC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4754880" cy="106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Calibri"/>
              </a:rPr>
              <a:t>99.5%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89560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9FB8BC"/>
                </a:solidFill>
                <a:latin typeface="Calibri"/>
              </a:rPr>
              <a:t>of Alberta homes heat with natural gas.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9FB8BC"/>
                </a:solidFill>
                <a:latin typeface="Calibri"/>
              </a:rPr>
              <a:t>Quebec's model assumes electric baseboards.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9768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1">
                <a:solidFill>
                  <a:srgbClr val="C8102E"/>
                </a:solidFill>
                <a:latin typeface="Calibri"/>
              </a:rPr>
              <a:t>— </a:t>
            </a:r>
            <a:r>
              <a:rPr sz="1900">
                <a:solidFill>
                  <a:srgbClr val="FFFFFF"/>
                </a:solidFill>
                <a:latin typeface="Calibri"/>
              </a:rPr>
              <a:t>Code ports in an afternoon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C8102E"/>
                </a:solidFill>
                <a:latin typeface="Calibri"/>
              </a:rPr>
              <a:t>— </a:t>
            </a:r>
            <a:r>
              <a:rPr sz="1900">
                <a:solidFill>
                  <a:srgbClr val="FFFFFF"/>
                </a:solidFill>
                <a:latin typeface="Calibri"/>
              </a:rPr>
              <a:t>Statistics don't port at all</a:t>
            </a:r>
          </a:p>
        </p:txBody>
      </p:sp>
      <p:pic>
        <p:nvPicPr>
          <p:cNvPr id="10" name="Picture 9" descr="01_heating_fuel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448" y="2029968"/>
            <a:ext cx="5852160" cy="31035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9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11064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WHAT'S INSIDE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14400"/>
            <a:ext cx="1005840" cy="45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FB8BC"/>
                </a:solidFill>
                <a:latin typeface="Calibri"/>
              </a:rPr>
              <a:t>NRCan EnerGuide  ·  Census 2021  ·  seeded &amp; scripted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FB8BC"/>
                </a:solidFill>
                <a:latin typeface="Calibri"/>
              </a:rPr>
              <a:t>4</a:t>
            </a:r>
          </a:p>
        </p:txBody>
      </p:sp>
      <p:sp>
        <p:nvSpPr>
          <p:cNvPr id="7" name="Chevron 6"/>
          <p:cNvSpPr/>
          <p:nvPr/>
        </p:nvSpPr>
        <p:spPr>
          <a:xfrm>
            <a:off x="566928" y="1828800"/>
            <a:ext cx="3657600" cy="1737360"/>
          </a:xfrm>
          <a:prstGeom prst="chevron">
            <a:avLst/>
          </a:prstGeom>
          <a:solidFill>
            <a:srgbClr val="4D7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685800"/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40</a:t>
            </a:r>
          </a:p>
          <a:p>
            <a:pPr algn="ctr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dwelling &amp;</a:t>
            </a:r>
          </a:p>
          <a:p>
            <a:pPr algn="ctr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occupant nodes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703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9FB8BC"/>
                </a:solidFill>
                <a:latin typeface="Calibri"/>
              </a:rPr>
              <a:t>Bayesian network</a:t>
            </a:r>
          </a:p>
        </p:txBody>
      </p:sp>
      <p:sp>
        <p:nvSpPr>
          <p:cNvPr id="9" name="Chevron 8"/>
          <p:cNvSpPr/>
          <p:nvPr/>
        </p:nvSpPr>
        <p:spPr>
          <a:xfrm>
            <a:off x="4315967" y="1828800"/>
            <a:ext cx="3657600" cy="1737360"/>
          </a:xfrm>
          <a:prstGeom prst="chevron">
            <a:avLst/>
          </a:prstGeom>
          <a:solidFill>
            <a:srgbClr val="4D7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685800"/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52</a:t>
            </a:r>
          </a:p>
          <a:p>
            <a:pPr algn="ctr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technical</a:t>
            </a:r>
          </a:p>
          <a:p>
            <a:pPr algn="ctr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attributes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5967" y="3703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9FB8BC"/>
                </a:solidFill>
                <a:latin typeface="Calibri"/>
              </a:rPr>
              <a:t>ResStock sampling</a:t>
            </a:r>
          </a:p>
        </p:txBody>
      </p:sp>
      <p:sp>
        <p:nvSpPr>
          <p:cNvPr id="11" name="Chevron 10"/>
          <p:cNvSpPr/>
          <p:nvPr/>
        </p:nvSpPr>
        <p:spPr>
          <a:xfrm>
            <a:off x="8065006" y="1828800"/>
            <a:ext cx="3657600" cy="1737360"/>
          </a:xfrm>
          <a:prstGeom prst="chevron">
            <a:avLst/>
          </a:prstGeom>
          <a:solidFill>
            <a:srgbClr val="4D7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685800"/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219</a:t>
            </a:r>
          </a:p>
          <a:p>
            <a:pPr algn="ctr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measure</a:t>
            </a:r>
          </a:p>
          <a:p>
            <a:pPr algn="ctr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arguments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65006" y="3703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9FB8BC"/>
                </a:solidFill>
                <a:latin typeface="Calibri"/>
              </a:rPr>
              <a:t>HPXML mapping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572000"/>
            <a:ext cx="10515600" cy="71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97 columns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52832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9FB8BC"/>
                </a:solidFill>
                <a:latin typeface="Calibri"/>
              </a:rPr>
              <a:t>the schema all three layers meet in — every one of them trained on a Quebec survey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Rounded Rectangle 7"/>
          <p:cNvSpPr/>
          <p:nvPr/>
        </p:nvSpPr>
        <p:spPr>
          <a:xfrm>
            <a:off x="566928" y="1463040"/>
            <a:ext cx="7079599" cy="4334256"/>
          </a:xfrm>
          <a:prstGeom prst="roundRect">
            <a:avLst>
              <a:gd name="adj" fmla="val 3000"/>
            </a:avLst>
          </a:prstGeom>
          <a:solidFill>
            <a:srgbClr val="EBE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9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11064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THE BIAS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14400"/>
            <a:ext cx="1005840" cy="45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FB8BC"/>
                </a:solidFill>
                <a:latin typeface="Calibri"/>
              </a:rPr>
              <a:t>NRCan EnerGuide  ·  Census 2021  ·  seeded &amp; scripted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FB8BC"/>
                </a:solidFill>
                <a:latin typeface="Calibri"/>
              </a:rPr>
              <a:t>5</a:t>
            </a:r>
          </a:p>
        </p:txBody>
      </p:sp>
      <p:pic>
        <p:nvPicPr>
          <p:cNvPr id="7" name="Picture 6" descr="02_dwelling_type_vs_cens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572768"/>
            <a:ext cx="6860143" cy="411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0" y="1920240"/>
            <a:ext cx="3566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1">
                <a:solidFill>
                  <a:srgbClr val="C8102E"/>
                </a:solidFill>
                <a:latin typeface="Calibri"/>
              </a:rPr>
              <a:t>— </a:t>
            </a:r>
            <a:r>
              <a:rPr sz="1800">
                <a:solidFill>
                  <a:srgbClr val="FFFFFF"/>
                </a:solidFill>
                <a:latin typeface="Calibri"/>
              </a:rPr>
              <a:t>Nobody sampled this data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C8102E"/>
                </a:solidFill>
                <a:latin typeface="Calibri"/>
              </a:rPr>
              <a:t>— </a:t>
            </a:r>
            <a:r>
              <a:rPr sz="1800">
                <a:solidFill>
                  <a:srgbClr val="FFFFFF"/>
                </a:solidFill>
                <a:latin typeface="Calibri"/>
              </a:rPr>
              <a:t>People opt in: retrofit grants, new builds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3749039"/>
            <a:ext cx="356616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27% vs 0.1%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4282439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9FB8BC"/>
                </a:solidFill>
                <a:latin typeface="Calibri"/>
              </a:rPr>
              <a:t>apartments in Calgary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9FB8BC"/>
                </a:solidFill>
                <a:latin typeface="Calibri"/>
              </a:rPr>
              <a:t>vs in the sample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Rounded Rectangle 7"/>
          <p:cNvSpPr/>
          <p:nvPr/>
        </p:nvSpPr>
        <p:spPr>
          <a:xfrm>
            <a:off x="566928" y="1463040"/>
            <a:ext cx="6841615" cy="4334256"/>
          </a:xfrm>
          <a:prstGeom prst="roundRect">
            <a:avLst>
              <a:gd name="adj" fmla="val 3000"/>
            </a:avLst>
          </a:prstGeom>
          <a:solidFill>
            <a:srgbClr val="EBE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9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11064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THE FIX: RAKING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14400"/>
            <a:ext cx="1005840" cy="45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FB8BC"/>
                </a:solidFill>
                <a:latin typeface="Calibri"/>
              </a:rPr>
              <a:t>NRCan EnerGuide  ·  Census 2021  ·  seeded &amp; scripted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FB8BC"/>
                </a:solidFill>
                <a:latin typeface="Calibri"/>
              </a:rPr>
              <a:t>6</a:t>
            </a:r>
          </a:p>
        </p:txBody>
      </p:sp>
      <p:pic>
        <p:nvPicPr>
          <p:cNvPr id="7" name="Picture 6" descr="25_ipf_rewe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572768"/>
            <a:ext cx="6622159" cy="411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0" y="1920240"/>
            <a:ext cx="3566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1">
                <a:solidFill>
                  <a:srgbClr val="C8102E"/>
                </a:solidFill>
                <a:latin typeface="Calibri"/>
              </a:rPr>
              <a:t>— </a:t>
            </a:r>
            <a:r>
              <a:rPr sz="1800">
                <a:solidFill>
                  <a:srgbClr val="FFFFFF"/>
                </a:solidFill>
                <a:latin typeface="Calibri"/>
              </a:rPr>
              <a:t>Sort every home into a census cell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C8102E"/>
                </a:solidFill>
                <a:latin typeface="Calibri"/>
              </a:rPr>
              <a:t>— </a:t>
            </a:r>
            <a:r>
              <a:rPr sz="1800">
                <a:solidFill>
                  <a:srgbClr val="FFFFFF"/>
                </a:solidFill>
                <a:latin typeface="Calibri"/>
              </a:rPr>
              <a:t>Solve for weights that match the margins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3749039"/>
            <a:ext cx="356616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34,207 → 161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4282439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9FB8BC"/>
                </a:solidFill>
                <a:latin typeface="Calibri"/>
              </a:rPr>
              <a:t>homes → effective sample size.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9FB8BC"/>
                </a:solidFill>
                <a:latin typeface="Calibri"/>
              </a:rPr>
              <a:t>The honest cost of the correction.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ounded Rectangle 11"/>
          <p:cNvSpPr/>
          <p:nvPr/>
        </p:nvSpPr>
        <p:spPr>
          <a:xfrm>
            <a:off x="5760720" y="1600200"/>
            <a:ext cx="6071616" cy="4135706"/>
          </a:xfrm>
          <a:prstGeom prst="roundRect">
            <a:avLst>
              <a:gd name="adj" fmla="val 3000"/>
            </a:avLst>
          </a:prstGeom>
          <a:solidFill>
            <a:srgbClr val="EBE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9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11064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CALGARY'S NUMBER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14400"/>
            <a:ext cx="1005840" cy="45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FB8BC"/>
                </a:solidFill>
                <a:latin typeface="Calibri"/>
              </a:rPr>
              <a:t>NRCan EnerGuide  ·  Census 2021  ·  seeded &amp; scripted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FB8BC"/>
                </a:solidFill>
                <a:latin typeface="Calibr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83080"/>
            <a:ext cx="4572000" cy="184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400" b="1">
                <a:solidFill>
                  <a:srgbClr val="FFFFFF"/>
                </a:solidFill>
                <a:latin typeface="Calibri"/>
              </a:rPr>
              <a:t>146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63220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9FB8BC"/>
                </a:solidFill>
                <a:latin typeface="Calibri"/>
              </a:rPr>
              <a:t>kWh / m² · yr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06240"/>
            <a:ext cx="4572000" cy="60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9FB8BC"/>
                </a:solidFill>
                <a:latin typeface="Calibri"/>
              </a:rPr>
              <a:t>138 – 156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81076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9FB8BC"/>
                </a:solidFill>
                <a:latin typeface="Calibri"/>
              </a:rPr>
              <a:t>95% confidence interval,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9FB8BC"/>
                </a:solidFill>
                <a:latin typeface="Calibri"/>
              </a:rPr>
              <a:t>161 effective samples</a:t>
            </a:r>
          </a:p>
        </p:txBody>
      </p:sp>
      <p:pic>
        <p:nvPicPr>
          <p:cNvPr id="11" name="Picture 10" descr="19_meui_bootstrap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448" y="1709928"/>
            <a:ext cx="5852160" cy="39162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ounded Rectangle 9"/>
          <p:cNvSpPr/>
          <p:nvPr/>
        </p:nvSpPr>
        <p:spPr>
          <a:xfrm>
            <a:off x="5806440" y="1874519"/>
            <a:ext cx="4981145" cy="3419856"/>
          </a:xfrm>
          <a:prstGeom prst="roundRect">
            <a:avLst>
              <a:gd name="adj" fmla="val 3000"/>
            </a:avLst>
          </a:prstGeom>
          <a:solidFill>
            <a:srgbClr val="EBE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463040"/>
            <a:ext cx="4974777" cy="4242816"/>
          </a:xfrm>
          <a:prstGeom prst="roundRect">
            <a:avLst>
              <a:gd name="adj" fmla="val 3000"/>
            </a:avLst>
          </a:prstGeom>
          <a:solidFill>
            <a:srgbClr val="EBE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9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11064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WHERE AND WHEN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14400"/>
            <a:ext cx="1005840" cy="45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FB8BC"/>
                </a:solidFill>
                <a:latin typeface="Calibri"/>
              </a:rPr>
              <a:t>NRCan EnerGuide  ·  Census 2021  ·  seeded &amp; scripted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FB8BC"/>
                </a:solidFill>
                <a:latin typeface="Calibri"/>
              </a:rPr>
              <a:t>8</a:t>
            </a:r>
          </a:p>
        </p:txBody>
      </p:sp>
      <p:pic>
        <p:nvPicPr>
          <p:cNvPr id="7" name="Picture 6" descr="21_meui_by_vint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572768"/>
            <a:ext cx="4755321" cy="4023360"/>
          </a:xfrm>
          <a:prstGeom prst="rect">
            <a:avLst/>
          </a:prstGeom>
        </p:spPr>
      </p:pic>
      <p:pic>
        <p:nvPicPr>
          <p:cNvPr id="9" name="Picture 8" descr="24_calgary_meui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168" y="1984247"/>
            <a:ext cx="4761689" cy="3200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6928" y="5715000"/>
            <a:ext cx="11064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C8102E"/>
                </a:solidFill>
                <a:latin typeface="Calibri"/>
              </a:rPr>
              <a:t>— </a:t>
            </a:r>
            <a:r>
              <a:rPr sz="1500">
                <a:solidFill>
                  <a:srgbClr val="FFFFFF"/>
                </a:solidFill>
                <a:latin typeface="Calibri"/>
              </a:rPr>
              <a:t>Newest stock 81, oldest 228 kWh/m²·yr — the building code, visible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C8102E"/>
                </a:solidFill>
                <a:latin typeface="Calibri"/>
              </a:rPr>
              <a:t>— </a:t>
            </a:r>
            <a:r>
              <a:rPr sz="1500">
                <a:solidFill>
                  <a:srgbClr val="FFFFFF"/>
                </a:solidFill>
                <a:latin typeface="Calibri"/>
              </a:rPr>
              <a:t>Inner ring oldest and most intense; pale FSAs are thin samples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9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11064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NEXT  ·  AND WHAT THIS ISN'T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14400"/>
            <a:ext cx="1005840" cy="45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FB8BC"/>
                </a:solidFill>
                <a:latin typeface="Calibri"/>
              </a:rPr>
              <a:t>NRCan EnerGuide  ·  Census 2021  ·  seeded &amp; scripted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FB8BC"/>
                </a:solidFill>
                <a:latin typeface="Calibri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45920"/>
            <a:ext cx="3566160" cy="1463040"/>
          </a:xfrm>
          <a:prstGeom prst="roundRect">
            <a:avLst>
              <a:gd name="adj" fmla="val 8000"/>
            </a:avLst>
          </a:prstGeom>
          <a:solidFill>
            <a:srgbClr val="4D7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Source Albertan datasets</a:t>
            </a:r>
          </a:p>
          <a:p>
            <a:pPr algn="ctr"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at this resolution or better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24528" y="1645920"/>
            <a:ext cx="3566160" cy="1463040"/>
          </a:xfrm>
          <a:prstGeom prst="roundRect">
            <a:avLst>
              <a:gd name="adj" fmla="val 8000"/>
            </a:avLst>
          </a:prstGeom>
          <a:solidFill>
            <a:srgbClr val="4D7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Rewrite the mapper's</a:t>
            </a:r>
          </a:p>
          <a:p>
            <a:pPr algn="ctr"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hardcoded Quebec parameters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82128" y="1645920"/>
            <a:ext cx="3566160" cy="1463040"/>
          </a:xfrm>
          <a:prstGeom prst="roundRect">
            <a:avLst>
              <a:gd name="adj" fmla="val 8000"/>
            </a:avLst>
          </a:prstGeom>
          <a:solidFill>
            <a:srgbClr val="4D7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Retrain the Bayesian</a:t>
            </a:r>
          </a:p>
          <a:p>
            <a:pPr algn="ctr"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network on Calgary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566160"/>
            <a:ext cx="11064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C8102E"/>
                </a:solidFill>
                <a:latin typeface="Calibri"/>
              </a:rPr>
              <a:t>— </a:t>
            </a:r>
            <a:r>
              <a:rPr sz="1800">
                <a:solidFill>
                  <a:srgbClr val="FFFFFF"/>
                </a:solidFill>
                <a:latin typeface="Calibri"/>
              </a:rPr>
              <a:t>Apartments and oldest vintages: wide intervals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C8102E"/>
                </a:solidFill>
                <a:latin typeface="Calibri"/>
              </a:rPr>
              <a:t>— </a:t>
            </a:r>
            <a:r>
              <a:rPr sz="1800">
                <a:solidFill>
                  <a:srgbClr val="FFFFFF"/>
                </a:solidFill>
                <a:latin typeface="Calibri"/>
              </a:rPr>
              <a:t>Audit-modelled intensity, not a weather simulation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892040"/>
            <a:ext cx="11064240" cy="497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Decision-grade for comparison.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389879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9FB8BC"/>
                </a:solidFill>
                <a:latin typeface="Calibri"/>
              </a:rPr>
              <a:t>Not a per-building predictor.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